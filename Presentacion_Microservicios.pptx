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SISTEMA DE ARRIENDO DE BICICLETAS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Arquitectura de Microservicios con Spring Boot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45752" cy="3840480"/>
          </a:xfrm>
          <a:prstGeom prst="rect">
            <a:avLst/>
          </a:prstGeom>
          <a:solidFill>
            <a:srgbClr val="1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463040"/>
            <a:ext cx="8897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Contenido de la Presentación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01  Patrón CSR — Separación de Responsabilidades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146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02  Reglas de Negocio y Validaciones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089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03  Comunicación REST entre Microservicios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033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04  Control de Versiones con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2976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05  Gestión de Proyecto con Trello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06  Pruebas Unitarias (JUnit 5 + Mockito)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146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07  Documentación Swagger / OpenAPI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089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08  Despliegue con 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033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09  API Gateway — Enrutamiento y Filtros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2976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10  Configuración YAML de Entornos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IE 1.2.1  ·  IE 2.2.1  ·  IE 2.4.1  ·  IE 2.5.1  ·  IE 2.5.2  ·  IE 3.1.1  ·  IE 3.2.1  ·  IE 3.3.1–3.3.4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19202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IE 1.2.1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Patrón CSR — Controller · Service ·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Separación real de responsabilidades en ms-bicicleta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74552" cy="1078992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64592" cy="10789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716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1907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D8"/>
                </a:solidFill>
              </a:rPr>
              <a:t>@RestController  ·  @RequestMapping("/api/bicicletas")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Recibe peticiones HTTP, delega al servicio, retorna ResponseEntity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11274552" cy="1078992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64592" cy="107899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606039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95351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D8"/>
                </a:solidFill>
              </a:rPr>
              <a:t>@Service  ·  BicicletaService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18687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Contiene reglas de negocio: validar código duplicado, cambiar estado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94760"/>
            <a:ext cx="11274552" cy="1078992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94760"/>
            <a:ext cx="164592" cy="1078992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8404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7F00"/>
                </a:solidFill>
              </a:rPr>
              <a:t>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18795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D8"/>
                </a:solidFill>
              </a:rPr>
              <a:t>@Repository  ·  BicicletaRepository extends JpaRepository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5312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Acceso a BD: findAll, findById, existsByCodigo, findByCodigo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11274552" cy="1078992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164592" cy="107899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0749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42239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D8"/>
                </a:solidFill>
              </a:rPr>
              <a:t>@Entity  ·  @Table(name="tbl_bicicletas")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6875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id, codigo, marca, modelo, estado, ubicacion — mapeado por JPA/Hibernate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19202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IE 2.2.1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Reglas de Negocio, Validaciones y Flujos Críticos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Integridad y consistencia en el dominio de arriendo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74552" cy="82296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Máquina de estados de la Bicicleta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18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DISPONIBLE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618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618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OCUPADA  (al iniciar préstamo)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618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618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DISPONIBLE  (al finalizar préstamo)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48840"/>
            <a:ext cx="3657600" cy="448056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2585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Creación de Reserva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60604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6E8"/>
                </a:solidFill>
              </a:rPr>
              <a:t>▸  Bicicleta debe estar DISPONIBLE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Usuario no puede tener reserva ACTIVA previa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Bicicleta no puede tener reserva ACTIVA previa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Se lanza RuntimeException si alguna falla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148840"/>
            <a:ext cx="3657600" cy="448056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2585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Inicio de Préstamo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60604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6E8"/>
                </a:solidFill>
              </a:rPr>
              <a:t>▸  Requiere reserva ACTIVA del usuario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Verifica estado DISPONIBLE en tiempo real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Ocupa la bicicleta vía Feign a ms-bicicleta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Marca la reserva como UTILIZADA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148840"/>
            <a:ext cx="3657600" cy="448056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22585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Pago y Finalización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60604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6E8"/>
                </a:solidFill>
              </a:rPr>
              <a:t>▸  Préstamo en ACTIVO → único estado finalizable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Calcula minutos de uso con fechaInicio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Tarifa base $1.000 (≤ 30 min)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+$500 por cada bloque adicional de 30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19202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IE 2.4.1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Comunicación REST entre Microservicios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OpenFeign + Eureka Load Balancer + códigos HTTP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0116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ms-reservas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234440"/>
            <a:ext cx="2011680" cy="6400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2984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ms-bicicleta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234440"/>
            <a:ext cx="2011680" cy="64008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12984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ms-notificacion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800" y="1234440"/>
            <a:ext cx="2011680" cy="64008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2984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ms-rental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0" y="1234440"/>
            <a:ext cx="2011680" cy="6400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12984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ms-pago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132588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D6E8"/>
                </a:solidFill>
              </a:rPr>
              <a:t>Feign →
FeignClient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32588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D6E8"/>
                </a:solidFill>
              </a:rPr>
              <a:t>Feign →
FeignClient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32588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D6E8"/>
                </a:solidFill>
              </a:rPr>
              <a:t>Feign →
FeignClient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32588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D6E8"/>
                </a:solidFill>
              </a:rPr>
              <a:t>Feign →
FeignClient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011680"/>
            <a:ext cx="5394960" cy="2286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2103120"/>
            <a:ext cx="51206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@FeignClient(name = "ms-bicicleta")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public interface BicicletaFeignClient {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@GetMapping("/api/bicicletas/{id}")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BicicletaDTO obtenerBicicletaPorId(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    @PathVariable Long id);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011680"/>
            <a:ext cx="5394960" cy="2286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103120"/>
            <a:ext cx="51206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@FeignClient(name = "ms-notificacion")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public interface NotificacionFeign {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@PostMapping("/api/notificacion/enviar")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void enviar(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    @RequestBody NotificationRequest req);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434840"/>
            <a:ext cx="11274552" cy="224028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4544568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Códigos HTTP utilizados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4892040"/>
            <a:ext cx="110002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6E8"/>
                </a:solidFill>
              </a:rPr>
              <a:t>▸  200 OK — operación exitosa (GET, PUT)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201 Created — recurso creado correctamente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400 Bad Request — datos inválidos o regla de negocio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404 Not Found — recurso inexistente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500 Internal Server Error — error no controlado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19202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IE 2.5.1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Repositorio GitHub — Commits Técnicos y Distribuidos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Control de versiones progresivo por microservicio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00" cy="539496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Estructura de commits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373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6E8"/>
                </a:solidFill>
              </a:rPr>
              <a:t>▸  feat: add BicicletaService with availability check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fix: correct Feign endpoint /utilizar in ReservaFeign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refactor: remove dead UpdateStatus() method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test: add BicicletaServiceTest 11 unit tests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config: migrate application.properties to YAML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657600" cy="539496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Estrategia de ramas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7373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6E8"/>
                </a:solidFill>
              </a:rPr>
              <a:t>▸  main — código estable y revisado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develop — integración continua del equipo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feature/ms-bicicleta — por cada microservicio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feature/ms-reservas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hotfix/feign-endpoint-fix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280160"/>
            <a:ext cx="3657600" cy="539496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Distribución del equipo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17373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6E8"/>
                </a:solidFill>
              </a:rPr>
              <a:t>▸  Integrante 1 → ms-user, ms-auth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Integrante 2 → ms-bicicleta, ms-reservas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Integrante 3 → ms-rental, ms-pago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Integrante 4 → ms-notificacion, api-gateway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Commits distribuidos evidencian aporte individual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19202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IE 2.5.2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Gestión de Proyecto con Trello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Organización visual de tareas, roles y avance del equipo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697480" cy="539496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6E8"/>
                </a:solidFill>
              </a:rPr>
              <a:t>📋  BACKLOG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85623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Diseño de arquitectura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42032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6151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Definir endpoints REST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00984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37413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Modelo de datos BD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59935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133087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Diagrama de microservicios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1234440"/>
            <a:ext cx="2697480" cy="539496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29844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🔄  IN PROGRESS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1783080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8728" y="185623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Implementar ms-rental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2542032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8728" y="26151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Configurar API Gateway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300984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337413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Documentar Swagger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4059935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4133087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Escribir pruebas unitarias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234440"/>
            <a:ext cx="2697480" cy="539496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29844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✅  DONE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783080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185623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ms-user operativo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542032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26151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ms-auth con JWT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300984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337413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ms-bicicleta con CRUD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059935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4133087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ms-reservas con validaciones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818888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4892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ms-pago con cálculo tarifas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577840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56509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ms-notificacion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60" y="1234440"/>
            <a:ext cx="2697480" cy="539496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129844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🚀  DEPLOY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1783080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82328" y="185623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Docker Compose local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72600" y="2542032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82328" y="26151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Variables de entorno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72600" y="3300984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82328" y="337413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Pruebas de integración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72600" y="4059935"/>
            <a:ext cx="251460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82328" y="4133087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Presentación final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19202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IE 3.1.1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Pruebas Unitarias — JUnit 5 + Mockito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Cobertura de reglas de negocio sin levantar Spring ni BD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029200" cy="539496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Cobertura por microservicio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099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Microservicio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09928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70992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Cobertura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4028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ms-bicicleta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40280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24028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~90%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77063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ms-user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70632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77063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~85%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00984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ms-reservas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300984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30098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~88%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831335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ms-rental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831335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831335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~87%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61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ms-pago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361688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36168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~85%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89204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ms-notificacion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892040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89204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~80%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42239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ms-auth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422392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42239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~82%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952744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TOTAL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952744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95274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A0"/>
                </a:solidFill>
              </a:rPr>
              <a:t>&gt; 80%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1234440"/>
            <a:ext cx="6035040" cy="539496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6440" y="1325880"/>
            <a:ext cx="5760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@ExtendWith(MockitoExtension.class)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class BicicletaServiceTest {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@Mock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private BicicletaRepository repository;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@InjectMocks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private BicicletaService service;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@Test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void crearBicicleta_codigoDuplicado_lanzaExcepcion() {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when(repository.existsByCodigo("B001"))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  .thenReturn(true);   // simula duplicado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assertThrows(RuntimeException.class,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  () -&gt; service.crearBicicleta(bicicleta));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verify(repository, never()).save(any());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}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19202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IE 3.2.1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Documentación Técnica con Swagger / OpenAPI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Endpoints documentados, ejemplos y modelos de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212080" cy="27432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49377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// OpenApiConfig.java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@Configuration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public class OpenApiConfig {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@Bean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public OpenAPI customOpenAPI() {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  return new OpenAPI()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    .info(new Info()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      .title("ms-bicicleta API")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      .version("1.0")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      .description(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        "Gestión de bicicletas"));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}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234440"/>
            <a:ext cx="5852160" cy="27432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325880"/>
            <a:ext cx="55778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@Tag(name="Bicicletas",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   description="CRUD de bicicletas")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@Operation(summary = "Crear bicicleta")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@ApiResponses({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@ApiResponse(responseCode="200",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             description="Registrada OK"),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@ApiResponse(responseCode="400",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             description="Código duplicado")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})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@PostMapping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public ResponseEntity&lt;Bicicleta&gt;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    crearBicicleta(@RequestBody Bicicleta 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69080"/>
            <a:ext cx="11274552" cy="256032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1148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Endpoints documentados — ms-bicicleta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URL visible en: http://localhost:8082/swagger-ui/index.html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7548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548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/api/bicicletas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75488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</a:rPr>
              <a:t>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75488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Lista todas las bicicletas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1091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1091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/api/bicicletas/{id}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01091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</a:rPr>
              <a:t>200 / 404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01091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Bicicleta por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2669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26694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/api/bicicletas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26694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</a:rPr>
              <a:t>200 / 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26694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Crear — valida código único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52297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</a:rPr>
              <a:t>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2297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/api/bicicletas/{id}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52297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</a:rPr>
              <a:t>200 / 404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52297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Actualizar datos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7790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</a:rPr>
              <a:t>DELETE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7790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/api/bicicletas/{id}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7790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</a:rPr>
              <a:t>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77900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Eliminar por 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0350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</a:rPr>
              <a:t>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603504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/api/bicicletas/{id}/ocupar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603504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</a:rPr>
              <a:t>200 / 404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603504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Cambia estado a OCUPADA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29107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</a:rPr>
              <a:t>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29107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/api/bicicletas/{id}/liberar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6291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</a:rPr>
              <a:t>200 / 404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629107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Cambia estado a DISPONIBLE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19202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IE 3.3.1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Despliegue con Docker y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Entorno reproducible para todos los microservicios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669280" cy="539496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53949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# docker-compose.yml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version: "3.8"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services: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mysql: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image: mysql:8.0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environment: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MYSQL_ROOT_PASSWORD: root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ports: ["3306:3306"]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eureka-server: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build: ./eureka-server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ports: ["8761:8761"]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api-gateway: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build: ./api-gateway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ports: ["8080:8080"]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depends_on: [eureka-server]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ms-bicicleta: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build: ./ms-bicicleta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ports: ["8082:8082"]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depends_on: [mysql, eureka-server]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environment: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SPRING_DATASOURCE_URL: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  jdbc:mysql://mysql:3306/bikes_db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5394960" cy="320040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3441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Ventajas del despliegue en contenedores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9164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6E8"/>
                </a:solidFill>
              </a:rPr>
              <a:t>▸  Cada microservicio tiene su propio Dockerfile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MySQL corre como contenedor independiente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depends_on garantiza orden de arranque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Variables de entorno sobreescriben el YAML local</a:t>
            </a:r>
          </a:p>
          <a:p>
            <a:pPr algn="l"/>
            <a:r>
              <a:rPr sz="1200">
                <a:solidFill>
                  <a:srgbClr val="CCD6E8"/>
                </a:solidFill>
              </a:rPr>
              <a:t>▸  Un solo comando levanta todo el sistema: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4526280"/>
            <a:ext cx="5394960" cy="210312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617720"/>
            <a:ext cx="512064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# Dockerfile de cada microservicio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FROM eclipse-temurin:21-jre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COPY target/*.jar app.jar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ENTRYPOINT ["java","-jar","/app.jar"]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# Levantar todo con un comando: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Consolas"/>
              </a:rPr>
              <a:t>$ docker compose up --build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19202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IE 3.3.2 / 3.3.3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 Gateway — Enrutamiento, Filtros y Rutas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Spring Cloud Gateway centraliza y controla todo el tráfico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74552" cy="1005840"/>
          </a:xfrm>
          <a:prstGeom prst="rect">
            <a:avLst/>
          </a:prstGeom>
          <a:solidFill>
            <a:srgbClr val="1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Cliente  →  :8080 (API Gateway)  →  Eureka (lb://)  →  Microservicio destino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6858000" cy="429768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Tabla de rutas — application.yaml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B4D8"/>
                </a:solidFill>
              </a:rPr>
              <a:t>/api/usuarios/**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788920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78892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D6A0"/>
                </a:solidFill>
              </a:rPr>
              <a:t>lb://ms-user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88920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166"/>
                </a:solidFill>
              </a:rPr>
              <a:t>:8081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10127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B4D8"/>
                </a:solidFill>
              </a:rPr>
              <a:t>/api/auth/**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310127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310127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D6A0"/>
                </a:solidFill>
              </a:rPr>
              <a:t>lb://ms-auth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10127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166"/>
                </a:solidFill>
              </a:rPr>
              <a:t>:8088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31335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B4D8"/>
                </a:solidFill>
              </a:rPr>
              <a:t>/api/bicicletas/**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831335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831335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D6A0"/>
                </a:solidFill>
              </a:rPr>
              <a:t>lb://ms-bicicleta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31335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166"/>
                </a:solidFill>
              </a:rPr>
              <a:t>:8082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352544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B4D8"/>
                </a:solidFill>
              </a:rPr>
              <a:t>/api/reservas/**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352544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352544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D6A0"/>
                </a:solidFill>
              </a:rPr>
              <a:t>lb://ms-reservas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52544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166"/>
                </a:solidFill>
              </a:rPr>
              <a:t>:8083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873752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B4D8"/>
                </a:solidFill>
              </a:rPr>
              <a:t>/api/rentals/**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873752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87375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D6A0"/>
                </a:solidFill>
              </a:rPr>
              <a:t>lb://ms-rental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73752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166"/>
                </a:solidFill>
              </a:rPr>
              <a:t>:8084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394959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B4D8"/>
                </a:solidFill>
              </a:rPr>
              <a:t>/api/pagos/**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5394959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5394959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D6A0"/>
                </a:solidFill>
              </a:rPr>
              <a:t>lb://ms-pago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94959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166"/>
                </a:solidFill>
              </a:rPr>
              <a:t>:8085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916168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B4D8"/>
                </a:solidFill>
              </a:rPr>
              <a:t>/api/notificacion/**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9161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591616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D6A0"/>
                </a:solidFill>
              </a:rPr>
              <a:t>lb://ms-notificacion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916168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166"/>
                </a:solidFill>
              </a:rPr>
              <a:t>:8087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9" y="2331720"/>
            <a:ext cx="4206240" cy="42976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242316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// JwtAuthFilter.java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@Component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public class JwtAuthFilter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extends AbstractGatewayFilterFactory {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// Rutas excluidas del filtro JWT: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List&lt;String&gt; openPaths = List.of(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"/api/auth/login",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"/api/usuarios",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"/swagger-ui/**",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"/v3/api-docs/**"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);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// Valida token en cada petición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// y rechaza con 401 si es inválido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19202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IE 3.3.4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Configuración YAML de Entornos y Microservicios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Propiedades estructuradas, puertos, datasource y rutas del 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212080" cy="539496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49377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# ms-reservas / application.yaml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spring: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application: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name: ms-reservas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datasource: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url: jdbc:mysql://localhost:3306/reservations_db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username: root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password: ""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driver-class-name: com.mysql.cj.jdbc.Driver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jpa: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hibernate: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ddl-auto: update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show-sql: true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properties: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hibernate: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  format_sql: true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server: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port: 8083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eureka: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client: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service-url: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defaultZone: http://localhost:8761/eureka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234440"/>
            <a:ext cx="5852160" cy="539496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325880"/>
            <a:ext cx="55778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# api-gateway / application.yaml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server: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port: 8080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spring: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application: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name: api-gateway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cloud: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gateway: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routes: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  - id: ms-bicicleta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    uri: lb://ms-bicicleta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    predicates: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      - Path=/api/bicicletas/**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jwt: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secret: YWJjZGVmZ2hpamtsbW5v...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expiration: 3600000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eureka: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client: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service-url:</a:t>
            </a:r>
          </a:p>
          <a:p>
            <a:pPr algn="l"/>
            <a:r>
              <a:rPr sz="950" b="0">
                <a:solidFill>
                  <a:srgbClr val="06D6A0"/>
                </a:solidFill>
                <a:latin typeface="Consolas"/>
              </a:rPr>
              <a:t>      defaultZone: http://localhost:8761/eureka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897880"/>
            <a:ext cx="11274552" cy="868680"/>
          </a:xfrm>
          <a:prstGeom prst="rect">
            <a:avLst/>
          </a:prstGeom>
          <a:solidFill>
            <a:srgbClr val="1B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007608"/>
            <a:ext cx="11000232" cy="667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CD6E8"/>
                </a:solidFill>
              </a:rPr>
              <a:t>▸  YAML reemplaza .properties — sintaxis jerárquica más legible</a:t>
            </a:r>
          </a:p>
          <a:p>
            <a:pPr algn="l"/>
            <a:r>
              <a:rPr sz="1100">
                <a:solidFill>
                  <a:srgbClr val="CCD6E8"/>
                </a:solidFill>
              </a:rPr>
              <a:t>▸  Indentación representa la estructura de propiedades</a:t>
            </a:r>
          </a:p>
          <a:p>
            <a:pPr algn="l"/>
            <a:r>
              <a:rPr sz="1100">
                <a:solidFill>
                  <a:srgbClr val="CCD6E8"/>
                </a:solidFill>
              </a:rPr>
              <a:t>▸  spring.datasource.url  →  spring: datasource: url:</a:t>
            </a:r>
          </a:p>
          <a:p>
            <a:pPr algn="l"/>
            <a:r>
              <a:rPr sz="1100">
                <a:solidFill>
                  <a:srgbClr val="CCD6E8"/>
                </a:solidFill>
              </a:rPr>
              <a:t>▸  Perfiles: application-dev.yaml / application-prod.yaml</a:t>
            </a:r>
          </a:p>
          <a:p>
            <a:pPr algn="l"/>
            <a:r>
              <a:rPr sz="1100">
                <a:solidFill>
                  <a:srgbClr val="CCD6E8"/>
                </a:solidFill>
              </a:rPr>
              <a:t>▸  Variables de entorno sobreescriben en Docker con env: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